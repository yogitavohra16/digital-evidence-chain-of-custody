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Playfair Display" panose="00000500000000000000" pitchFamily="2" charset="0"/>
      <p:regular r:id="rId15"/>
    </p:embeddedFont>
    <p:embeddedFont>
      <p:font typeface="Playfair Display Bold" panose="00000800000000000000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7" b="-6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15095" y="1516847"/>
            <a:ext cx="9532210" cy="6374825"/>
            <a:chOff x="0" y="0"/>
            <a:chExt cx="12709614" cy="84997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09652" cy="8499729"/>
            </a:xfrm>
            <a:custGeom>
              <a:avLst/>
              <a:gdLst/>
              <a:ahLst/>
              <a:cxnLst/>
              <a:rect l="l" t="t" r="r" b="b"/>
              <a:pathLst>
                <a:path w="12709652" h="8499729">
                  <a:moveTo>
                    <a:pt x="0" y="0"/>
                  </a:moveTo>
                  <a:lnTo>
                    <a:pt x="12709652" y="0"/>
                  </a:lnTo>
                  <a:lnTo>
                    <a:pt x="12709652" y="8499729"/>
                  </a:lnTo>
                  <a:lnTo>
                    <a:pt x="0" y="8499729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487024" y="1993516"/>
            <a:ext cx="10132733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UNIVERSITY PROJECT · CYBERSECURITY &amp; FORENSICS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7024" y="2970143"/>
            <a:ext cx="8302552" cy="202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4000" b="1" spc="-54" dirty="0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Blockchain-Based Digital Evidence Chain of Custody System Using Python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87024" y="5134118"/>
            <a:ext cx="5619979" cy="47368"/>
            <a:chOff x="0" y="0"/>
            <a:chExt cx="7493305" cy="631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93381" cy="63246"/>
            </a:xfrm>
            <a:custGeom>
              <a:avLst/>
              <a:gdLst/>
              <a:ahLst/>
              <a:cxnLst/>
              <a:rect l="l" t="t" r="r" b="b"/>
              <a:pathLst>
                <a:path w="7493381" h="63246">
                  <a:moveTo>
                    <a:pt x="0" y="31623"/>
                  </a:moveTo>
                  <a:cubicBezTo>
                    <a:pt x="0" y="14097"/>
                    <a:pt x="14097" y="0"/>
                    <a:pt x="31623" y="0"/>
                  </a:cubicBezTo>
                  <a:lnTo>
                    <a:pt x="7461758" y="0"/>
                  </a:lnTo>
                  <a:cubicBezTo>
                    <a:pt x="7479157" y="0"/>
                    <a:pt x="7493381" y="14097"/>
                    <a:pt x="7493381" y="31623"/>
                  </a:cubicBezTo>
                  <a:cubicBezTo>
                    <a:pt x="7493381" y="49022"/>
                    <a:pt x="7479284" y="63246"/>
                    <a:pt x="7461758" y="63246"/>
                  </a:cubicBezTo>
                  <a:lnTo>
                    <a:pt x="31623" y="63246"/>
                  </a:lnTo>
                  <a:cubicBezTo>
                    <a:pt x="14097" y="63119"/>
                    <a:pt x="0" y="49022"/>
                    <a:pt x="0" y="31623"/>
                  </a:cubicBezTo>
                  <a:close/>
                </a:path>
              </a:pathLst>
            </a:custGeom>
            <a:solidFill>
              <a:srgbClr val="6D2CE3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87024" y="5422373"/>
            <a:ext cx="10132733" cy="527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overview and technical demonstration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7024" y="6109887"/>
            <a:ext cx="8388344" cy="143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726" b="1">
                <a:solidFill>
                  <a:srgbClr val="19295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Yogita Vohra</a:t>
            </a:r>
            <a:r>
              <a:rPr lang="en-US" sz="1726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 (72413455)</a:t>
            </a:r>
          </a:p>
          <a:p>
            <a:pPr algn="l">
              <a:lnSpc>
                <a:spcPts val="2506"/>
              </a:lnSpc>
            </a:pPr>
            <a:r>
              <a:rPr lang="en-US" sz="1726" b="1">
                <a:solidFill>
                  <a:srgbClr val="19295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Avneet Kaur</a:t>
            </a:r>
            <a:r>
              <a:rPr lang="en-US" sz="1726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 (72313560)</a:t>
            </a:r>
          </a:p>
          <a:p>
            <a:pPr algn="l">
              <a:lnSpc>
                <a:spcPts val="2506"/>
              </a:lnSpc>
            </a:pPr>
            <a:r>
              <a:rPr lang="en-US" sz="1726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BTech Computer Science Engineering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15095" y="867489"/>
            <a:ext cx="17386744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CHALLENGE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909791"/>
            <a:ext cx="17300962" cy="61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sz="4653" b="1" spc="-46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Digital evidence needs a record that is hard to rewrite silently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5095" y="2618480"/>
            <a:ext cx="17386744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 file can change without leaving a physical trace. The record around it must make that change visible.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3309547"/>
            <a:ext cx="8007058" cy="4356478"/>
            <a:chOff x="0" y="0"/>
            <a:chExt cx="10676077" cy="58086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76128" cy="5808599"/>
            </a:xfrm>
            <a:custGeom>
              <a:avLst/>
              <a:gdLst/>
              <a:ahLst/>
              <a:cxnLst/>
              <a:rect l="l" t="t" r="r" b="b"/>
              <a:pathLst>
                <a:path w="10676128" h="5808599">
                  <a:moveTo>
                    <a:pt x="0" y="192151"/>
                  </a:moveTo>
                  <a:cubicBezTo>
                    <a:pt x="0" y="85979"/>
                    <a:pt x="85979" y="0"/>
                    <a:pt x="192151" y="0"/>
                  </a:cubicBezTo>
                  <a:lnTo>
                    <a:pt x="10483977" y="0"/>
                  </a:lnTo>
                  <a:cubicBezTo>
                    <a:pt x="10590149" y="0"/>
                    <a:pt x="10676128" y="85979"/>
                    <a:pt x="10676128" y="192151"/>
                  </a:cubicBezTo>
                  <a:lnTo>
                    <a:pt x="10676128" y="5616448"/>
                  </a:lnTo>
                  <a:cubicBezTo>
                    <a:pt x="10676128" y="5722620"/>
                    <a:pt x="10590149" y="5808599"/>
                    <a:pt x="10483977" y="5808599"/>
                  </a:cubicBezTo>
                  <a:lnTo>
                    <a:pt x="192151" y="5808599"/>
                  </a:lnTo>
                  <a:cubicBezTo>
                    <a:pt x="85979" y="5808599"/>
                    <a:pt x="0" y="5722620"/>
                    <a:pt x="0" y="5616448"/>
                  </a:cubicBezTo>
                  <a:close/>
                </a:path>
              </a:pathLst>
            </a:custGeom>
            <a:solidFill>
              <a:srgbClr val="F4F1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372638" y="3784302"/>
            <a:ext cx="7006171" cy="43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weak record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2638" y="4296489"/>
            <a:ext cx="7091963" cy="129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830" lvl="1" indent="-203915" algn="l">
              <a:lnSpc>
                <a:spcPts val="3269"/>
              </a:lnSpc>
              <a:buFont typeface="Arial"/>
              <a:buChar char="•"/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Digital files can be changed without a physical trace.</a:t>
            </a:r>
          </a:p>
          <a:p>
            <a:pPr marL="407830" lvl="1" indent="-203915" algn="l">
              <a:lnSpc>
                <a:spcPts val="3269"/>
              </a:lnSpc>
              <a:buFont typeface="Arial"/>
              <a:buChar char="•"/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Paper or spreadsheet custody logs can be edited after the fact.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37239" y="3784302"/>
            <a:ext cx="7006171" cy="43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required proof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37239" y="4296489"/>
            <a:ext cx="7091963" cy="170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830" lvl="1" indent="-203915" algn="l">
              <a:lnSpc>
                <a:spcPts val="3269"/>
              </a:lnSpc>
              <a:buFont typeface="Arial"/>
              <a:buChar char="•"/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Investigators need to show both file integrity and handling history.</a:t>
            </a:r>
          </a:p>
          <a:p>
            <a:pPr marL="407830" lvl="1" indent="-203915" algn="l">
              <a:lnSpc>
                <a:spcPts val="3269"/>
              </a:lnSpc>
              <a:buFont typeface="Arial"/>
              <a:buChar char="•"/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Later changes become visible through SHA-256 fingerprints and a hash-linked custody ledger.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857964"/>
            <a:ext cx="17386744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LOGIC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32341"/>
            <a:ext cx="16385867" cy="137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system connects evidence registration to verifiable history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5095" y="3010052"/>
            <a:ext cx="17386744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action adds context to the same evidence record.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4428477"/>
            <a:ext cx="4041810" cy="52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4053" spc="-40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5095" y="5003540"/>
            <a:ext cx="3774605" cy="146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Assign an EV-xxxx identifier and calculate the file’s SHA-256 hash.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3769" y="4428477"/>
            <a:ext cx="3864035" cy="52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4053" spc="-40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47243" y="5003540"/>
            <a:ext cx="3688966" cy="99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Append custody events as linked blockchain blocks.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52595" y="4428477"/>
            <a:ext cx="3960276" cy="52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4053" spc="-40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9696" y="5003540"/>
            <a:ext cx="3688966" cy="99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Re-hash the stored file and validate the ledger.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17661" y="4428477"/>
            <a:ext cx="4153176" cy="52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4053" spc="-40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11844" y="5003540"/>
            <a:ext cx="3688966" cy="99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 a PDF summary from database records.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2000" y="7553163"/>
            <a:ext cx="16973179" cy="404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 dirty="0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Outcome.</a:t>
            </a:r>
            <a:r>
              <a:rPr lang="en-US" sz="2251" dirty="0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working local prototype that makes file changes and broken history easier to detect.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16230" y="9644329"/>
            <a:ext cx="385610" cy="3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15095" y="1078144"/>
            <a:ext cx="17300962" cy="66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Python and Django carry the prototype end to 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833096"/>
            <a:ext cx="17386744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compact local stack keeps the technical path visible and testable.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96026" y="2505094"/>
            <a:ext cx="5299910" cy="3312528"/>
            <a:chOff x="0" y="0"/>
            <a:chExt cx="7066547" cy="441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6534" cy="4416679"/>
            </a:xfrm>
            <a:custGeom>
              <a:avLst/>
              <a:gdLst/>
              <a:ahLst/>
              <a:cxnLst/>
              <a:rect l="l" t="t" r="r" b="b"/>
              <a:pathLst>
                <a:path w="7066534" h="4416679">
                  <a:moveTo>
                    <a:pt x="0" y="194437"/>
                  </a:moveTo>
                  <a:cubicBezTo>
                    <a:pt x="0" y="86995"/>
                    <a:pt x="86995" y="0"/>
                    <a:pt x="194437" y="0"/>
                  </a:cubicBezTo>
                  <a:lnTo>
                    <a:pt x="6872097" y="0"/>
                  </a:lnTo>
                  <a:cubicBezTo>
                    <a:pt x="6979412" y="0"/>
                    <a:pt x="7066534" y="86995"/>
                    <a:pt x="7066534" y="194437"/>
                  </a:cubicBezTo>
                  <a:lnTo>
                    <a:pt x="7066534" y="4222242"/>
                  </a:lnTo>
                  <a:cubicBezTo>
                    <a:pt x="7066534" y="4329557"/>
                    <a:pt x="6979539" y="4416679"/>
                    <a:pt x="6872097" y="4416679"/>
                  </a:cubicBezTo>
                  <a:lnTo>
                    <a:pt x="194437" y="4416679"/>
                  </a:lnTo>
                  <a:cubicBezTo>
                    <a:pt x="86995" y="4416679"/>
                    <a:pt x="0" y="4329684"/>
                    <a:pt x="0" y="4222242"/>
                  </a:cubicBezTo>
                  <a:close/>
                </a:path>
              </a:pathLst>
            </a:custGeom>
            <a:solidFill>
              <a:srgbClr val="F4F1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296381" y="2905458"/>
            <a:ext cx="571929" cy="571948"/>
            <a:chOff x="0" y="0"/>
            <a:chExt cx="762572" cy="76259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5" h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6" b="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96381" y="3675336"/>
            <a:ext cx="5328504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3.13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6381" y="4125649"/>
            <a:ext cx="5940352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language and hashlib support.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15351" y="2505094"/>
            <a:ext cx="5147396" cy="3312528"/>
            <a:chOff x="0" y="0"/>
            <a:chExt cx="6863194" cy="44167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63207" cy="4416679"/>
            </a:xfrm>
            <a:custGeom>
              <a:avLst/>
              <a:gdLst/>
              <a:ahLst/>
              <a:cxnLst/>
              <a:rect l="l" t="t" r="r" b="b"/>
              <a:pathLst>
                <a:path w="6863207" h="4416679">
                  <a:moveTo>
                    <a:pt x="0" y="194437"/>
                  </a:moveTo>
                  <a:cubicBezTo>
                    <a:pt x="0" y="86995"/>
                    <a:pt x="86995" y="0"/>
                    <a:pt x="194437" y="0"/>
                  </a:cubicBezTo>
                  <a:lnTo>
                    <a:pt x="6668770" y="0"/>
                  </a:lnTo>
                  <a:cubicBezTo>
                    <a:pt x="6776085" y="0"/>
                    <a:pt x="6863207" y="86995"/>
                    <a:pt x="6863207" y="194437"/>
                  </a:cubicBezTo>
                  <a:lnTo>
                    <a:pt x="6863207" y="4222242"/>
                  </a:lnTo>
                  <a:cubicBezTo>
                    <a:pt x="6863207" y="4329557"/>
                    <a:pt x="6776212" y="4416679"/>
                    <a:pt x="6668770" y="4416679"/>
                  </a:cubicBezTo>
                  <a:lnTo>
                    <a:pt x="194437" y="4416679"/>
                  </a:lnTo>
                  <a:cubicBezTo>
                    <a:pt x="86995" y="4416679"/>
                    <a:pt x="0" y="4329684"/>
                    <a:pt x="0" y="4222242"/>
                  </a:cubicBezTo>
                  <a:close/>
                </a:path>
              </a:pathLst>
            </a:custGeom>
            <a:solidFill>
              <a:srgbClr val="F4F1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5705" y="2905458"/>
            <a:ext cx="571929" cy="571948"/>
            <a:chOff x="0" y="0"/>
            <a:chExt cx="762572" cy="762597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5" h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6" b="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7015705" y="3675336"/>
            <a:ext cx="5175990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Django 5.2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15705" y="4098541"/>
            <a:ext cx="4346686" cy="87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Routing, forms, ORM, authentication, templates and tests.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182161" y="2505094"/>
            <a:ext cx="5223653" cy="3312528"/>
            <a:chOff x="0" y="0"/>
            <a:chExt cx="6964870" cy="44167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64934" cy="4416679"/>
            </a:xfrm>
            <a:custGeom>
              <a:avLst/>
              <a:gdLst/>
              <a:ahLst/>
              <a:cxnLst/>
              <a:rect l="l" t="t" r="r" b="b"/>
              <a:pathLst>
                <a:path w="6964934" h="4416679">
                  <a:moveTo>
                    <a:pt x="0" y="194437"/>
                  </a:moveTo>
                  <a:cubicBezTo>
                    <a:pt x="0" y="86995"/>
                    <a:pt x="86995" y="0"/>
                    <a:pt x="194437" y="0"/>
                  </a:cubicBezTo>
                  <a:lnTo>
                    <a:pt x="6770497" y="0"/>
                  </a:lnTo>
                  <a:cubicBezTo>
                    <a:pt x="6877812" y="0"/>
                    <a:pt x="6964934" y="86995"/>
                    <a:pt x="6964934" y="194437"/>
                  </a:cubicBezTo>
                  <a:lnTo>
                    <a:pt x="6964934" y="4222242"/>
                  </a:lnTo>
                  <a:cubicBezTo>
                    <a:pt x="6964934" y="4329557"/>
                    <a:pt x="6877939" y="4416679"/>
                    <a:pt x="6770497" y="4416679"/>
                  </a:cubicBezTo>
                  <a:lnTo>
                    <a:pt x="194437" y="4416679"/>
                  </a:lnTo>
                  <a:cubicBezTo>
                    <a:pt x="86995" y="4416679"/>
                    <a:pt x="0" y="4329684"/>
                    <a:pt x="0" y="4222242"/>
                  </a:cubicBezTo>
                  <a:close/>
                </a:path>
              </a:pathLst>
            </a:custGeom>
            <a:solidFill>
              <a:srgbClr val="F4F1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2582515" y="2905458"/>
            <a:ext cx="571929" cy="571948"/>
            <a:chOff x="0" y="0"/>
            <a:chExt cx="762572" cy="762597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5" h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6" b="4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2582515" y="3675336"/>
            <a:ext cx="5252247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SQLite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82515" y="4098541"/>
            <a:ext cx="4337152" cy="129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Local database for cases, evidence, custody events, blocks and verification records.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96026" y="6237199"/>
            <a:ext cx="5299910" cy="2897867"/>
            <a:chOff x="0" y="0"/>
            <a:chExt cx="7066547" cy="386382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66535" cy="3863721"/>
            </a:xfrm>
            <a:custGeom>
              <a:avLst/>
              <a:gdLst/>
              <a:ahLst/>
              <a:cxnLst/>
              <a:rect l="l" t="t" r="r" b="b"/>
              <a:pathLst>
                <a:path w="7066535" h="3863721">
                  <a:moveTo>
                    <a:pt x="0" y="194691"/>
                  </a:moveTo>
                  <a:cubicBezTo>
                    <a:pt x="0" y="87249"/>
                    <a:pt x="87249" y="0"/>
                    <a:pt x="194691" y="0"/>
                  </a:cubicBezTo>
                  <a:lnTo>
                    <a:pt x="6871843" y="0"/>
                  </a:lnTo>
                  <a:cubicBezTo>
                    <a:pt x="6979412" y="0"/>
                    <a:pt x="7066535" y="87249"/>
                    <a:pt x="7066535" y="194691"/>
                  </a:cubicBezTo>
                  <a:lnTo>
                    <a:pt x="7066535" y="3669030"/>
                  </a:lnTo>
                  <a:cubicBezTo>
                    <a:pt x="7066535" y="3776599"/>
                    <a:pt x="6979286" y="3863721"/>
                    <a:pt x="6871843" y="3863721"/>
                  </a:cubicBezTo>
                  <a:lnTo>
                    <a:pt x="194691" y="3863721"/>
                  </a:lnTo>
                  <a:cubicBezTo>
                    <a:pt x="87249" y="3863848"/>
                    <a:pt x="0" y="3776599"/>
                    <a:pt x="0" y="3669030"/>
                  </a:cubicBezTo>
                  <a:close/>
                </a:path>
              </a:pathLst>
            </a:custGeom>
            <a:solidFill>
              <a:srgbClr val="F4F1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296381" y="6637563"/>
            <a:ext cx="571929" cy="571948"/>
            <a:chOff x="0" y="0"/>
            <a:chExt cx="762572" cy="762597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5" h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6" b="4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296381" y="7407297"/>
            <a:ext cx="5485790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SHA-256 + canonical JSON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6381" y="7830645"/>
            <a:ext cx="4499200" cy="87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Deterministic fingerprints for files and block data.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615351" y="6237199"/>
            <a:ext cx="10790463" cy="2897867"/>
            <a:chOff x="0" y="0"/>
            <a:chExt cx="14387284" cy="386382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387195" cy="3863721"/>
            </a:xfrm>
            <a:custGeom>
              <a:avLst/>
              <a:gdLst/>
              <a:ahLst/>
              <a:cxnLst/>
              <a:rect l="l" t="t" r="r" b="b"/>
              <a:pathLst>
                <a:path w="14387195" h="3863721">
                  <a:moveTo>
                    <a:pt x="0" y="194691"/>
                  </a:moveTo>
                  <a:cubicBezTo>
                    <a:pt x="0" y="87249"/>
                    <a:pt x="87249" y="0"/>
                    <a:pt x="194691" y="0"/>
                  </a:cubicBezTo>
                  <a:lnTo>
                    <a:pt x="14192504" y="0"/>
                  </a:lnTo>
                  <a:cubicBezTo>
                    <a:pt x="14300073" y="0"/>
                    <a:pt x="14387195" y="87249"/>
                    <a:pt x="14387195" y="194691"/>
                  </a:cubicBezTo>
                  <a:lnTo>
                    <a:pt x="14387195" y="3669030"/>
                  </a:lnTo>
                  <a:cubicBezTo>
                    <a:pt x="14387195" y="3776599"/>
                    <a:pt x="14299946" y="3863721"/>
                    <a:pt x="14192504" y="3863721"/>
                  </a:cubicBezTo>
                  <a:lnTo>
                    <a:pt x="194691" y="3863721"/>
                  </a:lnTo>
                  <a:cubicBezTo>
                    <a:pt x="87249" y="3863848"/>
                    <a:pt x="0" y="3776599"/>
                    <a:pt x="0" y="3669030"/>
                  </a:cubicBezTo>
                  <a:close/>
                </a:path>
              </a:pathLst>
            </a:custGeom>
            <a:solidFill>
              <a:srgbClr val="F4F1FF"/>
            </a:solid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015705" y="6637563"/>
            <a:ext cx="571929" cy="571948"/>
            <a:chOff x="0" y="0"/>
            <a:chExt cx="762572" cy="762597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5" h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6" b="4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7015705" y="7407297"/>
            <a:ext cx="10819057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ReportLab, HTML/CSS/JavaScript, Bootstrap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15705" y="7857754"/>
            <a:ext cx="11200343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PDF output, server-rendered UI and offline-friendly interface styling.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857964"/>
            <a:ext cx="17386744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TECHNICAL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32189"/>
            <a:ext cx="16385867" cy="137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architecture is a layered Django application with local storage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93282" y="3461090"/>
            <a:ext cx="2926385" cy="893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Blockchain + verification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93282" y="4505754"/>
            <a:ext cx="3012176" cy="170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Recalculate hashes, check links and compare the file with its original fingerprint.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8252" y="7765552"/>
            <a:ext cx="16957796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Scope boundary.</a:t>
            </a: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No public network, distributed nodes or consensus layer is implemented.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3057677"/>
            <a:ext cx="3774758" cy="4298090"/>
            <a:chOff x="0" y="0"/>
            <a:chExt cx="5033010" cy="57307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33010" cy="5730748"/>
            </a:xfrm>
            <a:custGeom>
              <a:avLst/>
              <a:gdLst/>
              <a:ahLst/>
              <a:cxnLst/>
              <a:rect l="l" t="t" r="r" b="b"/>
              <a:pathLst>
                <a:path w="5033010" h="5730748">
                  <a:moveTo>
                    <a:pt x="0" y="0"/>
                  </a:moveTo>
                  <a:lnTo>
                    <a:pt x="5033010" y="0"/>
                  </a:lnTo>
                  <a:lnTo>
                    <a:pt x="5033010" y="5730748"/>
                  </a:lnTo>
                  <a:lnTo>
                    <a:pt x="0" y="5730748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147396" y="3057677"/>
            <a:ext cx="3774758" cy="4298090"/>
            <a:chOff x="0" y="0"/>
            <a:chExt cx="5033010" cy="57307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33010" cy="5730748"/>
            </a:xfrm>
            <a:custGeom>
              <a:avLst/>
              <a:gdLst/>
              <a:ahLst/>
              <a:cxnLst/>
              <a:rect l="l" t="t" r="r" b="b"/>
              <a:pathLst>
                <a:path w="5033010" h="5730748">
                  <a:moveTo>
                    <a:pt x="0" y="0"/>
                  </a:moveTo>
                  <a:lnTo>
                    <a:pt x="5033010" y="0"/>
                  </a:lnTo>
                  <a:lnTo>
                    <a:pt x="5033010" y="5730748"/>
                  </a:lnTo>
                  <a:lnTo>
                    <a:pt x="0" y="5730748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379696" y="3057677"/>
            <a:ext cx="3774758" cy="4298090"/>
            <a:chOff x="0" y="0"/>
            <a:chExt cx="5033010" cy="57307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33010" cy="5730748"/>
            </a:xfrm>
            <a:custGeom>
              <a:avLst/>
              <a:gdLst/>
              <a:ahLst/>
              <a:cxnLst/>
              <a:rect l="l" t="t" r="r" b="b"/>
              <a:pathLst>
                <a:path w="5033010" h="5730748">
                  <a:moveTo>
                    <a:pt x="0" y="0"/>
                  </a:moveTo>
                  <a:lnTo>
                    <a:pt x="5033010" y="0"/>
                  </a:lnTo>
                  <a:lnTo>
                    <a:pt x="5033010" y="5730748"/>
                  </a:lnTo>
                  <a:lnTo>
                    <a:pt x="0" y="5730748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7916230" y="9644329"/>
            <a:ext cx="385610" cy="3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6229" y="3532289"/>
            <a:ext cx="2926242" cy="43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Browser UI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6229" y="4044477"/>
            <a:ext cx="3012034" cy="87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Login, dashboard, forms, verification and reports.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8529" y="3461090"/>
            <a:ext cx="2926385" cy="893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Django views + services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28529" y="4505754"/>
            <a:ext cx="3012176" cy="129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Validate inputs, enforce custody rules and coordinate transactions.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60982" y="3461090"/>
            <a:ext cx="3012176" cy="893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Evidence storage + SQLite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60982" y="4505754"/>
            <a:ext cx="2926385" cy="170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Keep the file private while metadata, hashes and events live in the database.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15095" y="857964"/>
            <a:ext cx="17386744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REGISTRATION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432189"/>
            <a:ext cx="16385867" cy="137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One registration creates both a file fingerprint and a first custody block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5095" y="3057677"/>
            <a:ext cx="16471659" cy="1008802"/>
            <a:chOff x="0" y="0"/>
            <a:chExt cx="21962212" cy="134507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962238" cy="1345057"/>
            </a:xfrm>
            <a:custGeom>
              <a:avLst/>
              <a:gdLst/>
              <a:ahLst/>
              <a:cxnLst/>
              <a:rect l="l" t="t" r="r" b="b"/>
              <a:pathLst>
                <a:path w="21962238" h="1345057">
                  <a:moveTo>
                    <a:pt x="0" y="0"/>
                  </a:moveTo>
                  <a:lnTo>
                    <a:pt x="21962238" y="0"/>
                  </a:lnTo>
                  <a:lnTo>
                    <a:pt x="21962238" y="1345057"/>
                  </a:lnTo>
                  <a:lnTo>
                    <a:pt x="0" y="1345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6" b="-31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77223" y="3224498"/>
            <a:ext cx="509978" cy="509988"/>
            <a:chOff x="0" y="0"/>
            <a:chExt cx="679971" cy="679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812" y="679958"/>
                    <a:pt x="339979" y="679958"/>
                  </a:cubicBezTo>
                  <a:cubicBezTo>
                    <a:pt x="152146" y="679958"/>
                    <a:pt x="0" y="527812"/>
                    <a:pt x="0" y="339979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358636" y="3398577"/>
            <a:ext cx="1891103" cy="23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3082" y="3329492"/>
            <a:ext cx="16076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 in and select a case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5095" y="4057250"/>
            <a:ext cx="16471659" cy="19069"/>
            <a:chOff x="0" y="0"/>
            <a:chExt cx="21962212" cy="254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62238" cy="25400"/>
            </a:xfrm>
            <a:custGeom>
              <a:avLst/>
              <a:gdLst/>
              <a:ahLst/>
              <a:cxnLst/>
              <a:rect l="l" t="t" r="r" b="b"/>
              <a:pathLst>
                <a:path w="21962238" h="25400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77223" y="4233596"/>
            <a:ext cx="509978" cy="509988"/>
            <a:chOff x="0" y="0"/>
            <a:chExt cx="679971" cy="6799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812" y="679958"/>
                    <a:pt x="339979" y="679958"/>
                  </a:cubicBezTo>
                  <a:cubicBezTo>
                    <a:pt x="152146" y="679958"/>
                    <a:pt x="0" y="527812"/>
                    <a:pt x="0" y="339979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358636" y="4407532"/>
            <a:ext cx="1891103" cy="23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3082" y="4338590"/>
            <a:ext cx="16076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Upload evidence; hash the file in chunks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5095" y="5075730"/>
            <a:ext cx="16471659" cy="1008802"/>
            <a:chOff x="0" y="0"/>
            <a:chExt cx="21962212" cy="13450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62238" cy="1345057"/>
            </a:xfrm>
            <a:custGeom>
              <a:avLst/>
              <a:gdLst/>
              <a:ahLst/>
              <a:cxnLst/>
              <a:rect l="l" t="t" r="r" b="b"/>
              <a:pathLst>
                <a:path w="21962238" h="1345057">
                  <a:moveTo>
                    <a:pt x="0" y="0"/>
                  </a:moveTo>
                  <a:lnTo>
                    <a:pt x="21962238" y="0"/>
                  </a:lnTo>
                  <a:lnTo>
                    <a:pt x="21962238" y="1345057"/>
                  </a:lnTo>
                  <a:lnTo>
                    <a:pt x="0" y="1345057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77223" y="5242550"/>
            <a:ext cx="509978" cy="509988"/>
            <a:chOff x="0" y="0"/>
            <a:chExt cx="679971" cy="6799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812" y="679958"/>
                    <a:pt x="339979" y="679958"/>
                  </a:cubicBezTo>
                  <a:cubicBezTo>
                    <a:pt x="152146" y="679958"/>
                    <a:pt x="0" y="527812"/>
                    <a:pt x="0" y="339979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358636" y="5416629"/>
            <a:ext cx="1891103" cy="23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73082" y="5347535"/>
            <a:ext cx="16076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 a private copy under a random name; re-hash the saved bytes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5095" y="5066195"/>
            <a:ext cx="16471659" cy="19069"/>
            <a:chOff x="0" y="0"/>
            <a:chExt cx="21962212" cy="254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62238" cy="25400"/>
            </a:xfrm>
            <a:custGeom>
              <a:avLst/>
              <a:gdLst/>
              <a:ahLst/>
              <a:cxnLst/>
              <a:rect l="l" t="t" r="r" b="b"/>
              <a:pathLst>
                <a:path w="21962238" h="25400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5095" y="6075150"/>
            <a:ext cx="16471659" cy="19069"/>
            <a:chOff x="0" y="0"/>
            <a:chExt cx="21962212" cy="254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62238" cy="25400"/>
            </a:xfrm>
            <a:custGeom>
              <a:avLst/>
              <a:gdLst/>
              <a:ahLst/>
              <a:cxnLst/>
              <a:rect l="l" t="t" r="r" b="b"/>
              <a:pathLst>
                <a:path w="21962238" h="25400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177223" y="6251496"/>
            <a:ext cx="509978" cy="509988"/>
            <a:chOff x="0" y="0"/>
            <a:chExt cx="679971" cy="67998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812" y="679958"/>
                    <a:pt x="339979" y="679958"/>
                  </a:cubicBezTo>
                  <a:cubicBezTo>
                    <a:pt x="152146" y="679958"/>
                    <a:pt x="0" y="527812"/>
                    <a:pt x="0" y="339979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358636" y="6425575"/>
            <a:ext cx="1891103" cy="23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73082" y="6356337"/>
            <a:ext cx="16076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 the evidence record and first REGISTERED event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5095" y="7093925"/>
            <a:ext cx="16471659" cy="1009098"/>
            <a:chOff x="0" y="0"/>
            <a:chExt cx="21962212" cy="134546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962238" cy="1345438"/>
            </a:xfrm>
            <a:custGeom>
              <a:avLst/>
              <a:gdLst/>
              <a:ahLst/>
              <a:cxnLst/>
              <a:rect l="l" t="t" r="r" b="b"/>
              <a:pathLst>
                <a:path w="21962238" h="1345438">
                  <a:moveTo>
                    <a:pt x="0" y="0"/>
                  </a:moveTo>
                  <a:lnTo>
                    <a:pt x="21962238" y="0"/>
                  </a:lnTo>
                  <a:lnTo>
                    <a:pt x="21962238" y="1345438"/>
                  </a:lnTo>
                  <a:lnTo>
                    <a:pt x="0" y="1345438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177223" y="7260746"/>
            <a:ext cx="509978" cy="509988"/>
            <a:chOff x="0" y="0"/>
            <a:chExt cx="679971" cy="67998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812" y="679958"/>
                    <a:pt x="339979" y="679958"/>
                  </a:cubicBezTo>
                  <a:cubicBezTo>
                    <a:pt x="152146" y="679958"/>
                    <a:pt x="0" y="527812"/>
                    <a:pt x="0" y="339979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358636" y="7434672"/>
            <a:ext cx="1891103" cy="23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73082" y="7365435"/>
            <a:ext cx="16076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Append a block linked to the previous block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15095" y="7084400"/>
            <a:ext cx="16471659" cy="19069"/>
            <a:chOff x="0" y="0"/>
            <a:chExt cx="21962212" cy="254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962238" cy="25400"/>
            </a:xfrm>
            <a:custGeom>
              <a:avLst/>
              <a:gdLst/>
              <a:ahLst/>
              <a:cxnLst/>
              <a:rect l="l" t="t" r="r" b="b"/>
              <a:pathLst>
                <a:path w="21962238" h="25400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15095" y="8093497"/>
            <a:ext cx="16471659" cy="19069"/>
            <a:chOff x="0" y="0"/>
            <a:chExt cx="21962212" cy="2542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962238" cy="25400"/>
            </a:xfrm>
            <a:custGeom>
              <a:avLst/>
              <a:gdLst/>
              <a:ahLst/>
              <a:cxnLst/>
              <a:rect l="l" t="t" r="r" b="b"/>
              <a:pathLst>
                <a:path w="21962238" h="25400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177223" y="8269843"/>
            <a:ext cx="509978" cy="509988"/>
            <a:chOff x="0" y="0"/>
            <a:chExt cx="679971" cy="67998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812" y="679958"/>
                    <a:pt x="339979" y="679958"/>
                  </a:cubicBezTo>
                  <a:cubicBezTo>
                    <a:pt x="152146" y="679958"/>
                    <a:pt x="0" y="527812"/>
                    <a:pt x="0" y="339979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358636" y="8443779"/>
            <a:ext cx="1891103" cy="23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6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73082" y="8374542"/>
            <a:ext cx="16076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Re-hash and re-calculate the chain before results or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857964"/>
            <a:ext cx="17386744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INTEGRITY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542412"/>
            <a:ext cx="17300962" cy="66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Two hashes answer two different integrity questions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8252" y="6131576"/>
            <a:ext cx="16957796" cy="39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block stores the previous block’s hash. Changing an earlier block can break the next link.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7475268"/>
            <a:ext cx="16385867" cy="94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SHA-256 output: 256 bits, commonly shown as 64 hexadecimal characters. A match supports integrity since registration; it does not prove origin or real-world authenticity.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0323" y="2340216"/>
            <a:ext cx="8016592" cy="3262627"/>
            <a:chOff x="0" y="0"/>
            <a:chExt cx="10688790" cy="43501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88828" cy="4350131"/>
            </a:xfrm>
            <a:custGeom>
              <a:avLst/>
              <a:gdLst/>
              <a:ahLst/>
              <a:cxnLst/>
              <a:rect l="l" t="t" r="r" b="b"/>
              <a:pathLst>
                <a:path w="10688828" h="4350131">
                  <a:moveTo>
                    <a:pt x="0" y="0"/>
                  </a:moveTo>
                  <a:lnTo>
                    <a:pt x="10688828" y="0"/>
                  </a:lnTo>
                  <a:lnTo>
                    <a:pt x="10688828" y="4350131"/>
                  </a:lnTo>
                  <a:lnTo>
                    <a:pt x="0" y="4350131"/>
                  </a:lnTo>
                  <a:close/>
                </a:path>
              </a:pathLst>
            </a:custGeom>
            <a:solidFill>
              <a:srgbClr val="F4F1FF"/>
            </a:solid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74924" y="2340216"/>
            <a:ext cx="8016592" cy="3262627"/>
            <a:chOff x="0" y="0"/>
            <a:chExt cx="10688790" cy="43501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88828" cy="4350131"/>
            </a:xfrm>
            <a:custGeom>
              <a:avLst/>
              <a:gdLst/>
              <a:ahLst/>
              <a:cxnLst/>
              <a:rect l="l" t="t" r="r" b="b"/>
              <a:pathLst>
                <a:path w="10688828" h="4350131">
                  <a:moveTo>
                    <a:pt x="0" y="0"/>
                  </a:moveTo>
                  <a:lnTo>
                    <a:pt x="10688828" y="0"/>
                  </a:lnTo>
                  <a:lnTo>
                    <a:pt x="10688828" y="4350131"/>
                  </a:lnTo>
                  <a:lnTo>
                    <a:pt x="0" y="4350131"/>
                  </a:lnTo>
                  <a:close/>
                </a:path>
              </a:pathLst>
            </a:custGeom>
            <a:solidFill>
              <a:srgbClr val="F8BBD0"/>
            </a:solid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20149" y="2811923"/>
            <a:ext cx="1805016" cy="434616"/>
            <a:chOff x="0" y="0"/>
            <a:chExt cx="2406688" cy="5794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06777" cy="579501"/>
            </a:xfrm>
            <a:custGeom>
              <a:avLst/>
              <a:gdLst/>
              <a:ahLst/>
              <a:cxnLst/>
              <a:rect l="l" t="t" r="r" b="b"/>
              <a:pathLst>
                <a:path w="2406777" h="579501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2252980" y="0"/>
                  </a:lnTo>
                  <a:cubicBezTo>
                    <a:pt x="2337943" y="0"/>
                    <a:pt x="2406777" y="68834"/>
                    <a:pt x="2406777" y="153797"/>
                  </a:cubicBezTo>
                  <a:lnTo>
                    <a:pt x="2406777" y="425704"/>
                  </a:lnTo>
                  <a:cubicBezTo>
                    <a:pt x="2406777" y="510667"/>
                    <a:pt x="2337943" y="579501"/>
                    <a:pt x="2252980" y="579501"/>
                  </a:cubicBezTo>
                  <a:lnTo>
                    <a:pt x="153797" y="579501"/>
                  </a:lnTo>
                  <a:cubicBezTo>
                    <a:pt x="68834" y="579501"/>
                    <a:pt x="0" y="510667"/>
                    <a:pt x="0" y="425704"/>
                  </a:cubicBezTo>
                  <a:close/>
                </a:path>
              </a:pathLst>
            </a:custGeom>
            <a:solidFill>
              <a:srgbClr val="E0D2F9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591732" y="2918622"/>
            <a:ext cx="3206401" cy="25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FILE INTEGRITY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84750" y="2811923"/>
            <a:ext cx="2164556" cy="434616"/>
            <a:chOff x="0" y="0"/>
            <a:chExt cx="2886075" cy="5794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86075" cy="579501"/>
            </a:xfrm>
            <a:custGeom>
              <a:avLst/>
              <a:gdLst/>
              <a:ahLst/>
              <a:cxnLst/>
              <a:rect l="l" t="t" r="r" b="b"/>
              <a:pathLst>
                <a:path w="2886075" h="579501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2732278" y="0"/>
                  </a:lnTo>
                  <a:cubicBezTo>
                    <a:pt x="2817241" y="0"/>
                    <a:pt x="2886075" y="68834"/>
                    <a:pt x="2886075" y="153797"/>
                  </a:cubicBezTo>
                  <a:lnTo>
                    <a:pt x="2886075" y="425704"/>
                  </a:lnTo>
                  <a:cubicBezTo>
                    <a:pt x="2886075" y="510667"/>
                    <a:pt x="2817241" y="579501"/>
                    <a:pt x="2732278" y="579501"/>
                  </a:cubicBezTo>
                  <a:lnTo>
                    <a:pt x="153797" y="579501"/>
                  </a:lnTo>
                  <a:cubicBezTo>
                    <a:pt x="68834" y="579501"/>
                    <a:pt x="0" y="510667"/>
                    <a:pt x="0" y="425704"/>
                  </a:cubicBezTo>
                  <a:close/>
                </a:path>
              </a:pathLst>
            </a:custGeom>
            <a:solidFill>
              <a:srgbClr val="E0D2F9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056333" y="2918622"/>
            <a:ext cx="3565789" cy="25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LEDGER INTEGRITY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6230" y="9644177"/>
            <a:ext cx="385610" cy="3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0149" y="3492217"/>
            <a:ext cx="6910702" cy="43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Evidence hash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0149" y="3972411"/>
            <a:ext cx="7415908" cy="54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1E1B2E"/>
                </a:solidFill>
                <a:latin typeface="Arimo"/>
                <a:ea typeface="Arimo"/>
                <a:cs typeface="Arimo"/>
                <a:sym typeface="Arimo"/>
              </a:rPr>
              <a:t>SHA-256(File Content)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0149" y="4668403"/>
            <a:ext cx="7524636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Is this file byte-for-byte the same as at registration?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84750" y="3492217"/>
            <a:ext cx="6910854" cy="43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302" spc="-33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Block hash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84750" y="3972411"/>
            <a:ext cx="8331146" cy="54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SHA-256(Serialized Block Data)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84750" y="4668403"/>
            <a:ext cx="8331146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Does this block still match its stored contents?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5095" y="7797241"/>
            <a:ext cx="4712637" cy="1337672"/>
            <a:chOff x="0" y="0"/>
            <a:chExt cx="6283516" cy="17835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83452" cy="1783588"/>
            </a:xfrm>
            <a:custGeom>
              <a:avLst/>
              <a:gdLst/>
              <a:ahLst/>
              <a:cxnLst/>
              <a:rect l="l" t="t" r="r" b="b"/>
              <a:pathLst>
                <a:path w="6283452" h="1783588">
                  <a:moveTo>
                    <a:pt x="0" y="0"/>
                  </a:moveTo>
                  <a:lnTo>
                    <a:pt x="6283452" y="0"/>
                  </a:lnTo>
                  <a:lnTo>
                    <a:pt x="6283452" y="1783588"/>
                  </a:lnTo>
                  <a:lnTo>
                    <a:pt x="0" y="1783588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901159" y="1637948"/>
            <a:ext cx="9499740" cy="6510814"/>
            <a:chOff x="0" y="0"/>
            <a:chExt cx="12666320" cy="86810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66345" cy="8681086"/>
            </a:xfrm>
            <a:custGeom>
              <a:avLst/>
              <a:gdLst/>
              <a:ahLst/>
              <a:cxnLst/>
              <a:rect l="l" t="t" r="r" b="b"/>
              <a:pathLst>
                <a:path w="12666345" h="8681086">
                  <a:moveTo>
                    <a:pt x="0" y="386080"/>
                  </a:moveTo>
                  <a:cubicBezTo>
                    <a:pt x="0" y="172847"/>
                    <a:pt x="172847" y="0"/>
                    <a:pt x="386080" y="0"/>
                  </a:cubicBezTo>
                  <a:lnTo>
                    <a:pt x="12280265" y="0"/>
                  </a:lnTo>
                  <a:cubicBezTo>
                    <a:pt x="12493498" y="0"/>
                    <a:pt x="12666345" y="172847"/>
                    <a:pt x="12666345" y="386080"/>
                  </a:cubicBezTo>
                  <a:lnTo>
                    <a:pt x="12666345" y="8295005"/>
                  </a:lnTo>
                  <a:cubicBezTo>
                    <a:pt x="12666345" y="8508238"/>
                    <a:pt x="12493498" y="8681086"/>
                    <a:pt x="12280265" y="8681086"/>
                  </a:cubicBezTo>
                  <a:lnTo>
                    <a:pt x="386080" y="8681086"/>
                  </a:lnTo>
                  <a:cubicBezTo>
                    <a:pt x="172847" y="8681086"/>
                    <a:pt x="0" y="8508238"/>
                    <a:pt x="0" y="829500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35" r="-37934"/>
              </a:stretch>
            </a:blipFill>
            <a:ln w="28597" cap="sq">
              <a:solidFill>
                <a:srgbClr val="E4DCFF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15095" y="857964"/>
            <a:ext cx="5774131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INTERFACE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432189"/>
            <a:ext cx="4626997" cy="423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dashboard gives investigators one place to see the current state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095" y="5835091"/>
            <a:ext cx="4712637" cy="170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Cases, evidence items, custody events and blockchain status appear together, with direct actions to create a case or register evidence.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972" y="7978397"/>
            <a:ext cx="5237055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Visible state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972" y="8540963"/>
            <a:ext cx="5469255" cy="36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726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Cases · evidence · custody · blockchain status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058588" y="1795224"/>
            <a:ext cx="9185024" cy="6196089"/>
            <a:chOff x="0" y="0"/>
            <a:chExt cx="12246699" cy="826145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2246737" cy="8261477"/>
            </a:xfrm>
            <a:custGeom>
              <a:avLst/>
              <a:gdLst/>
              <a:ahLst/>
              <a:cxnLst/>
              <a:rect l="l" t="t" r="r" b="b"/>
              <a:pathLst>
                <a:path w="12246737" h="8261477">
                  <a:moveTo>
                    <a:pt x="0" y="0"/>
                  </a:moveTo>
                  <a:lnTo>
                    <a:pt x="12246737" y="0"/>
                  </a:lnTo>
                  <a:lnTo>
                    <a:pt x="12246737" y="8261477"/>
                  </a:lnTo>
                  <a:lnTo>
                    <a:pt x="0" y="8261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" b="-27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7915608" y="8277330"/>
            <a:ext cx="10321890" cy="36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726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Actual dashboard 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16087" y="9644777"/>
            <a:ext cx="321412" cy="3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09979" y="146701"/>
            <a:ext cx="7016583" cy="10001789"/>
            <a:chOff x="0" y="0"/>
            <a:chExt cx="10336246" cy="14733803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0336227" cy="14733867"/>
            </a:xfrm>
            <a:custGeom>
              <a:avLst/>
              <a:gdLst/>
              <a:ahLst/>
              <a:cxnLst/>
              <a:rect l="l" t="t" r="r" b="b"/>
              <a:pathLst>
                <a:path w="10336227" h="14733867">
                  <a:moveTo>
                    <a:pt x="0" y="0"/>
                  </a:moveTo>
                  <a:lnTo>
                    <a:pt x="10336227" y="0"/>
                  </a:lnTo>
                  <a:lnTo>
                    <a:pt x="10336227" y="14733867"/>
                  </a:lnTo>
                  <a:lnTo>
                    <a:pt x="0" y="14733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693" b="-869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510330" y="968073"/>
            <a:ext cx="8790480" cy="209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Registration captures the file, handler and purpose before the event is written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05558" y="3645122"/>
            <a:ext cx="743512" cy="743531"/>
            <a:chOff x="0" y="0"/>
            <a:chExt cx="991349" cy="991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1362" cy="991362"/>
            </a:xfrm>
            <a:custGeom>
              <a:avLst/>
              <a:gdLst/>
              <a:ahLst/>
              <a:cxnLst/>
              <a:rect l="l" t="t" r="r" b="b"/>
              <a:pathLst>
                <a:path w="991362" h="991362">
                  <a:moveTo>
                    <a:pt x="0" y="495681"/>
                  </a:moveTo>
                  <a:cubicBezTo>
                    <a:pt x="0" y="221869"/>
                    <a:pt x="221869" y="0"/>
                    <a:pt x="495681" y="0"/>
                  </a:cubicBezTo>
                  <a:cubicBezTo>
                    <a:pt x="769493" y="0"/>
                    <a:pt x="991362" y="221869"/>
                    <a:pt x="991362" y="495681"/>
                  </a:cubicBezTo>
                  <a:cubicBezTo>
                    <a:pt x="991362" y="769493"/>
                    <a:pt x="769366" y="991362"/>
                    <a:pt x="495681" y="991362"/>
                  </a:cubicBezTo>
                  <a:cubicBezTo>
                    <a:pt x="221996" y="991362"/>
                    <a:pt x="0" y="769493"/>
                    <a:pt x="0" y="495681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734330" y="3873894"/>
            <a:ext cx="285969" cy="285969"/>
            <a:chOff x="0" y="0"/>
            <a:chExt cx="381292" cy="38129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10330" y="4526909"/>
            <a:ext cx="9705575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Case + file:</a:t>
            </a: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Selected together before the record is created.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498734" y="5351564"/>
            <a:ext cx="8876271" cy="2449840"/>
            <a:chOff x="0" y="0"/>
            <a:chExt cx="11835028" cy="32664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35003" cy="3266440"/>
            </a:xfrm>
            <a:custGeom>
              <a:avLst/>
              <a:gdLst/>
              <a:ahLst/>
              <a:cxnLst/>
              <a:rect l="l" t="t" r="r" b="b"/>
              <a:pathLst>
                <a:path w="11835003" h="3266440">
                  <a:moveTo>
                    <a:pt x="0" y="0"/>
                  </a:moveTo>
                  <a:lnTo>
                    <a:pt x="11835003" y="0"/>
                  </a:lnTo>
                  <a:lnTo>
                    <a:pt x="11835003" y="3266440"/>
                  </a:lnTo>
                  <a:lnTo>
                    <a:pt x="0" y="3266440"/>
                  </a:lnTo>
                  <a:close/>
                </a:path>
              </a:pathLst>
            </a:custGeom>
            <a:solidFill>
              <a:srgbClr val="F4F1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848715" y="5680291"/>
            <a:ext cx="743512" cy="743531"/>
            <a:chOff x="0" y="0"/>
            <a:chExt cx="991349" cy="9913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1362" cy="991362"/>
            </a:xfrm>
            <a:custGeom>
              <a:avLst/>
              <a:gdLst/>
              <a:ahLst/>
              <a:cxnLst/>
              <a:rect l="l" t="t" r="r" b="b"/>
              <a:pathLst>
                <a:path w="991362" h="991362">
                  <a:moveTo>
                    <a:pt x="0" y="495681"/>
                  </a:moveTo>
                  <a:cubicBezTo>
                    <a:pt x="0" y="221869"/>
                    <a:pt x="221869" y="0"/>
                    <a:pt x="495681" y="0"/>
                  </a:cubicBezTo>
                  <a:cubicBezTo>
                    <a:pt x="769493" y="0"/>
                    <a:pt x="991362" y="221869"/>
                    <a:pt x="991362" y="495681"/>
                  </a:cubicBezTo>
                  <a:cubicBezTo>
                    <a:pt x="991362" y="769493"/>
                    <a:pt x="769366" y="991362"/>
                    <a:pt x="495681" y="991362"/>
                  </a:cubicBezTo>
                  <a:cubicBezTo>
                    <a:pt x="221996" y="991362"/>
                    <a:pt x="0" y="769493"/>
                    <a:pt x="0" y="495681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077496" y="5909072"/>
            <a:ext cx="285969" cy="285969"/>
            <a:chOff x="0" y="0"/>
            <a:chExt cx="381292" cy="38129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8" b="-9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853488" y="6534979"/>
            <a:ext cx="8104165" cy="87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 dirty="0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Handler + notes:</a:t>
            </a:r>
            <a:r>
              <a:rPr lang="en-US" sz="2251" dirty="0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collector, handler and purpose become part of the record.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510330" y="5332362"/>
            <a:ext cx="8876271" cy="19069"/>
            <a:chOff x="0" y="0"/>
            <a:chExt cx="11835028" cy="254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835003" cy="25400"/>
            </a:xfrm>
            <a:custGeom>
              <a:avLst/>
              <a:gdLst/>
              <a:ahLst/>
              <a:cxnLst/>
              <a:rect l="l" t="t" r="r" b="b"/>
              <a:pathLst>
                <a:path w="11835003" h="25400">
                  <a:moveTo>
                    <a:pt x="0" y="0"/>
                  </a:moveTo>
                  <a:lnTo>
                    <a:pt x="11835003" y="0"/>
                  </a:lnTo>
                  <a:lnTo>
                    <a:pt x="1183500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510330" y="7782354"/>
            <a:ext cx="8876271" cy="19069"/>
            <a:chOff x="0" y="0"/>
            <a:chExt cx="11835028" cy="254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835003" cy="25400"/>
            </a:xfrm>
            <a:custGeom>
              <a:avLst/>
              <a:gdLst/>
              <a:ahLst/>
              <a:cxnLst/>
              <a:rect l="l" t="t" r="r" b="b"/>
              <a:pathLst>
                <a:path w="11835003" h="25400">
                  <a:moveTo>
                    <a:pt x="0" y="0"/>
                  </a:moveTo>
                  <a:lnTo>
                    <a:pt x="11835003" y="0"/>
                  </a:lnTo>
                  <a:lnTo>
                    <a:pt x="1183500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D2CE3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505558" y="8130283"/>
            <a:ext cx="743512" cy="743531"/>
            <a:chOff x="0" y="0"/>
            <a:chExt cx="991349" cy="9913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1362" cy="991362"/>
            </a:xfrm>
            <a:custGeom>
              <a:avLst/>
              <a:gdLst/>
              <a:ahLst/>
              <a:cxnLst/>
              <a:rect l="l" t="t" r="r" b="b"/>
              <a:pathLst>
                <a:path w="991362" h="991362">
                  <a:moveTo>
                    <a:pt x="0" y="495681"/>
                  </a:moveTo>
                  <a:cubicBezTo>
                    <a:pt x="0" y="221869"/>
                    <a:pt x="221869" y="0"/>
                    <a:pt x="495681" y="0"/>
                  </a:cubicBezTo>
                  <a:cubicBezTo>
                    <a:pt x="769493" y="0"/>
                    <a:pt x="991362" y="221869"/>
                    <a:pt x="991362" y="495681"/>
                  </a:cubicBezTo>
                  <a:cubicBezTo>
                    <a:pt x="991362" y="769493"/>
                    <a:pt x="769366" y="991362"/>
                    <a:pt x="495681" y="991362"/>
                  </a:cubicBezTo>
                  <a:cubicBezTo>
                    <a:pt x="221996" y="991362"/>
                    <a:pt x="0" y="769493"/>
                    <a:pt x="0" y="495681"/>
                  </a:cubicBezTo>
                  <a:close/>
                </a:path>
              </a:pathLst>
            </a:custGeom>
            <a:solidFill>
              <a:srgbClr val="6D2CE3"/>
            </a:solidFill>
            <a:ln w="9532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734330" y="8359064"/>
            <a:ext cx="285969" cy="285969"/>
            <a:chOff x="0" y="0"/>
            <a:chExt cx="381292" cy="381292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8" b="-9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8510330" y="8985113"/>
            <a:ext cx="8790480" cy="87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Event explanation:</a:t>
            </a: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interface explains hashing, private storage and the new linked block.</a:t>
            </a:r>
          </a:p>
        </p:txBody>
      </p:sp>
      <p:grpSp>
        <p:nvGrpSpPr>
          <p:cNvPr id="30" name="Group 4">
            <a:extLst>
              <a:ext uri="{FF2B5EF4-FFF2-40B4-BE49-F238E27FC236}">
                <a16:creationId xmlns:a16="http://schemas.microsoft.com/office/drawing/2014/main" id="{E6991BFE-5095-51D4-C3F3-2FC601604C97}"/>
              </a:ext>
            </a:extLst>
          </p:cNvPr>
          <p:cNvGrpSpPr/>
          <p:nvPr/>
        </p:nvGrpSpPr>
        <p:grpSpPr>
          <a:xfrm>
            <a:off x="450927" y="2728968"/>
            <a:ext cx="7334688" cy="4995264"/>
            <a:chOff x="0" y="0"/>
            <a:chExt cx="12666344" cy="8681087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0BD1997A-0DF0-65EA-DBB1-9EEA4A92BCF6}"/>
                </a:ext>
              </a:extLst>
            </p:cNvPr>
            <p:cNvSpPr/>
            <p:nvPr/>
          </p:nvSpPr>
          <p:spPr>
            <a:xfrm>
              <a:off x="0" y="0"/>
              <a:ext cx="12666344" cy="8681087"/>
            </a:xfrm>
            <a:custGeom>
              <a:avLst/>
              <a:gdLst/>
              <a:ahLst/>
              <a:cxnLst/>
              <a:rect l="l" t="t" r="r" b="b"/>
              <a:pathLst>
                <a:path w="12666345" h="8681086">
                  <a:moveTo>
                    <a:pt x="0" y="386080"/>
                  </a:moveTo>
                  <a:cubicBezTo>
                    <a:pt x="0" y="172847"/>
                    <a:pt x="172847" y="0"/>
                    <a:pt x="386080" y="0"/>
                  </a:cubicBezTo>
                  <a:lnTo>
                    <a:pt x="12280265" y="0"/>
                  </a:lnTo>
                  <a:cubicBezTo>
                    <a:pt x="12493498" y="0"/>
                    <a:pt x="12666345" y="172847"/>
                    <a:pt x="12666345" y="386080"/>
                  </a:cubicBezTo>
                  <a:lnTo>
                    <a:pt x="12666345" y="8295005"/>
                  </a:lnTo>
                  <a:cubicBezTo>
                    <a:pt x="12666345" y="8508238"/>
                    <a:pt x="12493498" y="8681086"/>
                    <a:pt x="12280265" y="8681086"/>
                  </a:cubicBezTo>
                  <a:lnTo>
                    <a:pt x="386080" y="8681086"/>
                  </a:lnTo>
                  <a:cubicBezTo>
                    <a:pt x="172847" y="8681086"/>
                    <a:pt x="0" y="8508238"/>
                    <a:pt x="0" y="8295005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7935" r="-37934"/>
              </a:stretch>
            </a:blipFill>
            <a:ln w="28597" cap="sq">
              <a:solidFill>
                <a:srgbClr val="E4DCFF"/>
              </a:solidFill>
              <a:prstDash val="solid"/>
              <a:miter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15095" y="857964"/>
            <a:ext cx="17386744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542412"/>
            <a:ext cx="17300962" cy="66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Verification separates file integrity from ledger integrity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91441" y="2521334"/>
            <a:ext cx="6987111" cy="4127697"/>
            <a:chOff x="0" y="0"/>
            <a:chExt cx="9316148" cy="55035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16085" cy="5503545"/>
            </a:xfrm>
            <a:custGeom>
              <a:avLst/>
              <a:gdLst/>
              <a:ahLst/>
              <a:cxnLst/>
              <a:rect l="l" t="t" r="r" b="b"/>
              <a:pathLst>
                <a:path w="9316085" h="5503545">
                  <a:moveTo>
                    <a:pt x="0" y="386969"/>
                  </a:moveTo>
                  <a:cubicBezTo>
                    <a:pt x="0" y="173228"/>
                    <a:pt x="173228" y="0"/>
                    <a:pt x="386969" y="0"/>
                  </a:cubicBezTo>
                  <a:lnTo>
                    <a:pt x="8929116" y="0"/>
                  </a:lnTo>
                  <a:cubicBezTo>
                    <a:pt x="9142857" y="0"/>
                    <a:pt x="9316085" y="173228"/>
                    <a:pt x="9316085" y="386969"/>
                  </a:cubicBezTo>
                  <a:lnTo>
                    <a:pt x="9316085" y="5116576"/>
                  </a:lnTo>
                  <a:cubicBezTo>
                    <a:pt x="9316085" y="5330317"/>
                    <a:pt x="9142857" y="5503545"/>
                    <a:pt x="8929116" y="5503545"/>
                  </a:cubicBezTo>
                  <a:lnTo>
                    <a:pt x="386969" y="5503545"/>
                  </a:lnTo>
                  <a:cubicBezTo>
                    <a:pt x="173228" y="5503545"/>
                    <a:pt x="0" y="5330317"/>
                    <a:pt x="0" y="5116576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796" r="-25797"/>
              </a:stretch>
            </a:blipFill>
            <a:ln w="28597" cap="sq">
              <a:solidFill>
                <a:srgbClr val="E4DC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248718" y="2678621"/>
            <a:ext cx="6672548" cy="3813124"/>
            <a:chOff x="0" y="0"/>
            <a:chExt cx="8896731" cy="508416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896731" cy="5084191"/>
            </a:xfrm>
            <a:custGeom>
              <a:avLst/>
              <a:gdLst/>
              <a:ahLst/>
              <a:cxnLst/>
              <a:rect l="l" t="t" r="r" b="b"/>
              <a:pathLst>
                <a:path w="8896731" h="5084191">
                  <a:moveTo>
                    <a:pt x="0" y="0"/>
                  </a:moveTo>
                  <a:lnTo>
                    <a:pt x="8896731" y="0"/>
                  </a:lnTo>
                  <a:lnTo>
                    <a:pt x="8896731" y="5084191"/>
                  </a:lnTo>
                  <a:lnTo>
                    <a:pt x="0" y="5084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" b="-2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05738" y="6913245"/>
            <a:ext cx="8455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File verification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5738" y="7363854"/>
            <a:ext cx="8645709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Current SHA-256 equals the stored original hash.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56042" y="2521334"/>
            <a:ext cx="6987111" cy="4127697"/>
            <a:chOff x="0" y="0"/>
            <a:chExt cx="9316148" cy="55035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16085" cy="5503545"/>
            </a:xfrm>
            <a:custGeom>
              <a:avLst/>
              <a:gdLst/>
              <a:ahLst/>
              <a:cxnLst/>
              <a:rect l="l" t="t" r="r" b="b"/>
              <a:pathLst>
                <a:path w="9316085" h="5503545">
                  <a:moveTo>
                    <a:pt x="0" y="386969"/>
                  </a:moveTo>
                  <a:cubicBezTo>
                    <a:pt x="0" y="173228"/>
                    <a:pt x="173228" y="0"/>
                    <a:pt x="386969" y="0"/>
                  </a:cubicBezTo>
                  <a:lnTo>
                    <a:pt x="8929116" y="0"/>
                  </a:lnTo>
                  <a:cubicBezTo>
                    <a:pt x="9142857" y="0"/>
                    <a:pt x="9316085" y="173228"/>
                    <a:pt x="9316085" y="386969"/>
                  </a:cubicBezTo>
                  <a:lnTo>
                    <a:pt x="9316085" y="5116576"/>
                  </a:lnTo>
                  <a:cubicBezTo>
                    <a:pt x="9316085" y="5330317"/>
                    <a:pt x="9142857" y="5503545"/>
                    <a:pt x="8929116" y="5503545"/>
                  </a:cubicBezTo>
                  <a:lnTo>
                    <a:pt x="386969" y="5503545"/>
                  </a:lnTo>
                  <a:cubicBezTo>
                    <a:pt x="173228" y="5503545"/>
                    <a:pt x="0" y="5330317"/>
                    <a:pt x="0" y="5116576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796" r="-25797"/>
              </a:stretch>
            </a:blipFill>
            <a:ln w="28597" cap="sq">
              <a:solidFill>
                <a:srgbClr val="E4DCF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713319" y="2678621"/>
            <a:ext cx="6672548" cy="3813124"/>
            <a:chOff x="0" y="0"/>
            <a:chExt cx="8896731" cy="508416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8896731" cy="5084191"/>
            </a:xfrm>
            <a:custGeom>
              <a:avLst/>
              <a:gdLst/>
              <a:ahLst/>
              <a:cxnLst/>
              <a:rect l="l" t="t" r="r" b="b"/>
              <a:pathLst>
                <a:path w="8896731" h="5084191">
                  <a:moveTo>
                    <a:pt x="0" y="0"/>
                  </a:moveTo>
                  <a:lnTo>
                    <a:pt x="8896731" y="0"/>
                  </a:lnTo>
                  <a:lnTo>
                    <a:pt x="8896731" y="5084191"/>
                  </a:lnTo>
                  <a:lnTo>
                    <a:pt x="0" y="5084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" b="-2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9570339" y="6913245"/>
            <a:ext cx="8455066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Blockchain validation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70339" y="7363854"/>
            <a:ext cx="8731501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Stored block hashes and previous-hash links remain consistent.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8252" y="8689010"/>
            <a:ext cx="16957796" cy="46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 b="1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Read the label carefully.</a:t>
            </a:r>
            <a:r>
              <a:rPr lang="en-US" sz="2251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local chain is tamper-evident, not tamper-proof.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733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539268" y="9644920"/>
            <a:ext cx="762581" cy="3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857964"/>
            <a:ext cx="17386744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REPORTS AND LIMITS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5095" y="1542412"/>
            <a:ext cx="16690896" cy="66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Reports, Testing, and Project Limitations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1441" y="2654789"/>
            <a:ext cx="9560804" cy="5748061"/>
            <a:chOff x="0" y="0"/>
            <a:chExt cx="12747739" cy="76640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47625" cy="7664069"/>
            </a:xfrm>
            <a:custGeom>
              <a:avLst/>
              <a:gdLst/>
              <a:ahLst/>
              <a:cxnLst/>
              <a:rect l="l" t="t" r="r" b="b"/>
              <a:pathLst>
                <a:path w="12747625" h="7664069">
                  <a:moveTo>
                    <a:pt x="0" y="386207"/>
                  </a:moveTo>
                  <a:cubicBezTo>
                    <a:pt x="0" y="172974"/>
                    <a:pt x="172974" y="0"/>
                    <a:pt x="386207" y="0"/>
                  </a:cubicBezTo>
                  <a:lnTo>
                    <a:pt x="12361418" y="0"/>
                  </a:lnTo>
                  <a:cubicBezTo>
                    <a:pt x="12574778" y="0"/>
                    <a:pt x="12747625" y="172974"/>
                    <a:pt x="12747625" y="386207"/>
                  </a:cubicBezTo>
                  <a:lnTo>
                    <a:pt x="12747625" y="7277862"/>
                  </a:lnTo>
                  <a:cubicBezTo>
                    <a:pt x="12747625" y="7491222"/>
                    <a:pt x="12574651" y="7664069"/>
                    <a:pt x="12361418" y="7664069"/>
                  </a:cubicBezTo>
                  <a:lnTo>
                    <a:pt x="386207" y="7664069"/>
                  </a:lnTo>
                  <a:cubicBezTo>
                    <a:pt x="172974" y="7664069"/>
                    <a:pt x="0" y="7491095"/>
                    <a:pt x="0" y="727786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137" r="-27138"/>
              </a:stretch>
            </a:blipFill>
            <a:ln w="28597" cap="sq">
              <a:solidFill>
                <a:srgbClr val="E4DC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58252" y="2821600"/>
            <a:ext cx="9227182" cy="5414429"/>
            <a:chOff x="0" y="0"/>
            <a:chExt cx="12302909" cy="721923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2302871" cy="7219188"/>
            </a:xfrm>
            <a:custGeom>
              <a:avLst/>
              <a:gdLst/>
              <a:ahLst/>
              <a:cxnLst/>
              <a:rect l="l" t="t" r="r" b="b"/>
              <a:pathLst>
                <a:path w="12302871" h="7219188">
                  <a:moveTo>
                    <a:pt x="0" y="0"/>
                  </a:moveTo>
                  <a:lnTo>
                    <a:pt x="12302871" y="0"/>
                  </a:lnTo>
                  <a:lnTo>
                    <a:pt x="12302871" y="7219188"/>
                  </a:lnTo>
                  <a:lnTo>
                    <a:pt x="0" y="7219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248006" y="7457484"/>
            <a:ext cx="5532001" cy="49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801" spc="-25" dirty="0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report preview: case details, evidence metadata, </a:t>
            </a:r>
          </a:p>
          <a:p>
            <a:pPr algn="l">
              <a:lnSpc>
                <a:spcPts val="1988"/>
              </a:lnSpc>
            </a:pPr>
            <a:r>
              <a:rPr lang="en-US" sz="1801" spc="-25" dirty="0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SHA-256, handler and time, custody status, notes.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48006" y="2717959"/>
            <a:ext cx="6586757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the report contains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48006" y="3294402"/>
            <a:ext cx="6586757" cy="808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9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Case details, evidence metadata, original filename,</a:t>
            </a:r>
          </a:p>
          <a:p>
            <a:pPr algn="l">
              <a:lnSpc>
                <a:spcPts val="2154"/>
              </a:lnSpc>
            </a:pPr>
            <a:r>
              <a:rPr lang="en-US" sz="19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 and size, original SHA-256, handler and time,</a:t>
            </a:r>
          </a:p>
          <a:p>
            <a:pPr algn="l">
              <a:lnSpc>
                <a:spcPts val="2154"/>
              </a:lnSpc>
            </a:pPr>
            <a:r>
              <a:rPr lang="en-US" sz="19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custody status, and notes.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48006" y="4712922"/>
            <a:ext cx="6586757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Checks implemented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48006" y="5278879"/>
            <a:ext cx="6586757" cy="129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3452" lvl="1" indent="-176726" algn="l">
              <a:lnSpc>
                <a:spcPts val="2154"/>
              </a:lnSpc>
              <a:buFont typeface="Arial"/>
              <a:buChar char="•"/>
            </a:pPr>
            <a:r>
              <a:rPr lang="en-US" sz="19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File SHA-256 comparison for file integrity</a:t>
            </a:r>
          </a:p>
          <a:p>
            <a:pPr marL="353452" lvl="1" indent="-176726" algn="l">
              <a:lnSpc>
                <a:spcPts val="2154"/>
              </a:lnSpc>
              <a:buFont typeface="Arial"/>
              <a:buChar char="•"/>
            </a:pPr>
            <a:r>
              <a:rPr lang="en-US" sz="19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Hash-linked block verification for ledger integrity</a:t>
            </a:r>
          </a:p>
          <a:p>
            <a:pPr marL="353452" lvl="1" indent="-176726" algn="l">
              <a:lnSpc>
                <a:spcPts val="2154"/>
              </a:lnSpc>
              <a:buFont typeface="Arial"/>
              <a:buChar char="•"/>
            </a:pPr>
            <a:r>
              <a:rPr lang="en-US" sz="19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Report generation from recorded case and evidence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48006" y="6901120"/>
            <a:ext cx="7053834" cy="23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80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Test status not independently confirmed here.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707126"/>
            <a:ext cx="16577291" cy="117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138" b="1" u="sng" spc="-55" dirty="0">
                <a:solidFill>
                  <a:srgbClr val="19295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Limitations: </a:t>
            </a:r>
            <a:r>
              <a:rPr lang="en-US" sz="2138" b="1" spc="-55" dirty="0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local prototype with a custom hash-linked chain on local, single-node storage.</a:t>
            </a:r>
          </a:p>
          <a:p>
            <a:pPr algn="l">
              <a:lnSpc>
                <a:spcPts val="3104"/>
              </a:lnSpc>
            </a:pPr>
            <a:r>
              <a:rPr lang="en-US" sz="2138" b="1" spc="-55" dirty="0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Not automatically equivalent to a distributed production blockchain. </a:t>
            </a:r>
          </a:p>
          <a:p>
            <a:pPr algn="l">
              <a:lnSpc>
                <a:spcPts val="3104"/>
              </a:lnSpc>
            </a:pPr>
            <a:r>
              <a:rPr lang="en-US" sz="2138" b="1" spc="-55" dirty="0">
                <a:solidFill>
                  <a:srgbClr val="1E1B2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Production would need distributed consensus and networking, stronger access control, audit hardening, and operational security.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192"/>
            <a:chOff x="0" y="0"/>
            <a:chExt cx="24402453" cy="13726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922"/>
            </a:xfrm>
            <a:custGeom>
              <a:avLst/>
              <a:gdLst/>
              <a:ahLst/>
              <a:cxnLst/>
              <a:rect l="l" t="t" r="r" b="b"/>
              <a:pathLst>
                <a:path w="24402414" h="13726922">
                  <a:moveTo>
                    <a:pt x="0" y="0"/>
                  </a:moveTo>
                  <a:lnTo>
                    <a:pt x="24402414" y="0"/>
                  </a:lnTo>
                  <a:lnTo>
                    <a:pt x="24402414" y="13726922"/>
                  </a:lnTo>
                  <a:lnTo>
                    <a:pt x="0" y="137269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5" name="Freeform 5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488954" y="0"/>
            <a:ext cx="3812886" cy="10295039"/>
            <a:chOff x="0" y="0"/>
            <a:chExt cx="5083848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5083810" cy="13726668"/>
            </a:xfrm>
            <a:custGeom>
              <a:avLst/>
              <a:gdLst/>
              <a:ahLst/>
              <a:cxnLst/>
              <a:rect l="l" t="t" r="r" b="b"/>
              <a:pathLst>
                <a:path w="5083810" h="13726668">
                  <a:moveTo>
                    <a:pt x="0" y="0"/>
                  </a:moveTo>
                  <a:lnTo>
                    <a:pt x="5083810" y="0"/>
                  </a:lnTo>
                  <a:lnTo>
                    <a:pt x="508381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" r="-6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867" y="1277388"/>
            <a:ext cx="8836362" cy="4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951" spc="234">
                <a:solidFill>
                  <a:srgbClr val="192957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867" y="1935623"/>
            <a:ext cx="15928324" cy="66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Conclusion and Future 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867" y="2983706"/>
            <a:ext cx="14403172" cy="151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627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project records digital evidence and custody events and uses SHA-256 hashing</a:t>
            </a:r>
          </a:p>
          <a:p>
            <a:pPr algn="l">
              <a:lnSpc>
                <a:spcPts val="3814"/>
              </a:lnSpc>
            </a:pPr>
            <a:r>
              <a:rPr lang="en-US" sz="2627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and blockchain-style linking to make changes detectable.</a:t>
            </a:r>
          </a:p>
          <a:p>
            <a:pPr algn="l">
              <a:lnSpc>
                <a:spcPts val="3814"/>
              </a:lnSpc>
            </a:pPr>
            <a:r>
              <a:rPr lang="en-US" sz="2627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Tracking and verification are supported through the dashboard and reports.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867" y="5196402"/>
            <a:ext cx="7539980" cy="3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627" spc="-25">
                <a:solidFill>
                  <a:srgbClr val="1929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Future 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867" y="5781408"/>
            <a:ext cx="7539980" cy="127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830" lvl="1" indent="-203915" algn="l">
              <a:lnSpc>
                <a:spcPts val="2485"/>
              </a:lnSpc>
              <a:buFont typeface="Arial"/>
              <a:buChar char="•"/>
            </a:pPr>
            <a:r>
              <a:rPr lang="en-US" sz="22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Distributed multi-node deployment and consensus</a:t>
            </a:r>
          </a:p>
          <a:p>
            <a:pPr marL="407830" lvl="1" indent="-203915" algn="l">
              <a:lnSpc>
                <a:spcPts val="2485"/>
              </a:lnSpc>
              <a:buFont typeface="Arial"/>
              <a:buChar char="•"/>
            </a:pPr>
            <a:r>
              <a:rPr lang="en-US" sz="22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Stronger authentication and role-based access control</a:t>
            </a:r>
          </a:p>
          <a:p>
            <a:pPr marL="407830" lvl="1" indent="-203915" algn="l">
              <a:lnSpc>
                <a:spcPts val="2485"/>
              </a:lnSpc>
              <a:buFont typeface="Arial"/>
              <a:buChar char="•"/>
            </a:pPr>
            <a:r>
              <a:rPr lang="en-US" sz="2251" spc="-25">
                <a:solidFill>
                  <a:srgbClr val="1E1B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Tamper-evident external audit and backup integration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67" y="8324907"/>
            <a:ext cx="15928324" cy="78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9"/>
              </a:lnSpc>
            </a:pPr>
            <a:r>
              <a:rPr lang="en-US" sz="6004" b="1" spc="-51">
                <a:solidFill>
                  <a:srgbClr val="19295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887</Words>
  <Application>Microsoft Office PowerPoint</Application>
  <PresentationFormat>Custom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Source Sans 3</vt:lpstr>
      <vt:lpstr>Source Sans 3 Bold</vt:lpstr>
      <vt:lpstr>Playfair Display Bold</vt:lpstr>
      <vt:lpstr>Playfair Display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report preview: case details, evidence metadata, SHA-256, handler and time, custody status, notes.</dc:title>
  <cp:lastModifiedBy>Yogita Vohra</cp:lastModifiedBy>
  <cp:revision>2</cp:revision>
  <dcterms:created xsi:type="dcterms:W3CDTF">2006-08-16T00:00:00Z</dcterms:created>
  <dcterms:modified xsi:type="dcterms:W3CDTF">2026-10-17T10:43:55Z</dcterms:modified>
  <dc:identifier>DAHYQrqOTdA</dc:identifier>
</cp:coreProperties>
</file>